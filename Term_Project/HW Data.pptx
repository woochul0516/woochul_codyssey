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66" r:id="rId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88"/>
  </p:normalViewPr>
  <p:slideViewPr>
    <p:cSldViewPr>
      <p:cViewPr>
        <p:scale>
          <a:sx n="76" d="100"/>
          <a:sy n="76" d="100"/>
        </p:scale>
        <p:origin x="144" y="4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4755" y="407620"/>
            <a:ext cx="17639030" cy="9472295"/>
          </a:xfrm>
          <a:custGeom>
            <a:avLst/>
            <a:gdLst/>
            <a:ahLst/>
            <a:cxnLst/>
            <a:rect l="l" t="t" r="r" b="b"/>
            <a:pathLst>
              <a:path w="17639030" h="9472295">
                <a:moveTo>
                  <a:pt x="17305120" y="9471769"/>
                </a:moveTo>
                <a:lnTo>
                  <a:pt x="333374" y="9471769"/>
                </a:lnTo>
                <a:lnTo>
                  <a:pt x="284111" y="9468154"/>
                </a:lnTo>
                <a:lnTo>
                  <a:pt x="237092" y="9457654"/>
                </a:lnTo>
                <a:lnTo>
                  <a:pt x="192832" y="9440783"/>
                </a:lnTo>
                <a:lnTo>
                  <a:pt x="151849" y="9418059"/>
                </a:lnTo>
                <a:lnTo>
                  <a:pt x="114656" y="9389995"/>
                </a:lnTo>
                <a:lnTo>
                  <a:pt x="81771" y="9357109"/>
                </a:lnTo>
                <a:lnTo>
                  <a:pt x="53708" y="9319915"/>
                </a:lnTo>
                <a:lnTo>
                  <a:pt x="30984" y="9278929"/>
                </a:lnTo>
                <a:lnTo>
                  <a:pt x="14114" y="9234667"/>
                </a:lnTo>
                <a:lnTo>
                  <a:pt x="3614" y="9187645"/>
                </a:lnTo>
                <a:lnTo>
                  <a:pt x="0" y="9138379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2"/>
                </a:lnTo>
                <a:lnTo>
                  <a:pt x="30984" y="192832"/>
                </a:lnTo>
                <a:lnTo>
                  <a:pt x="53708" y="151849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9" y="53708"/>
                </a:lnTo>
                <a:lnTo>
                  <a:pt x="192832" y="30984"/>
                </a:lnTo>
                <a:lnTo>
                  <a:pt x="237092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17305120" y="0"/>
                </a:lnTo>
                <a:lnTo>
                  <a:pt x="17354379" y="3614"/>
                </a:lnTo>
                <a:lnTo>
                  <a:pt x="17401394" y="14114"/>
                </a:lnTo>
                <a:lnTo>
                  <a:pt x="17445651" y="30984"/>
                </a:lnTo>
                <a:lnTo>
                  <a:pt x="17486633" y="53708"/>
                </a:lnTo>
                <a:lnTo>
                  <a:pt x="17523824" y="81771"/>
                </a:lnTo>
                <a:lnTo>
                  <a:pt x="17556708" y="114656"/>
                </a:lnTo>
                <a:lnTo>
                  <a:pt x="17584770" y="151849"/>
                </a:lnTo>
                <a:lnTo>
                  <a:pt x="17607494" y="192832"/>
                </a:lnTo>
                <a:lnTo>
                  <a:pt x="17624364" y="237092"/>
                </a:lnTo>
                <a:lnTo>
                  <a:pt x="17634865" y="284111"/>
                </a:lnTo>
                <a:lnTo>
                  <a:pt x="17638479" y="333374"/>
                </a:lnTo>
                <a:lnTo>
                  <a:pt x="17638479" y="9138379"/>
                </a:lnTo>
                <a:lnTo>
                  <a:pt x="17634865" y="9187645"/>
                </a:lnTo>
                <a:lnTo>
                  <a:pt x="17624364" y="9234667"/>
                </a:lnTo>
                <a:lnTo>
                  <a:pt x="17607494" y="9278929"/>
                </a:lnTo>
                <a:lnTo>
                  <a:pt x="17584770" y="9319915"/>
                </a:lnTo>
                <a:lnTo>
                  <a:pt x="17556708" y="9357109"/>
                </a:lnTo>
                <a:lnTo>
                  <a:pt x="17523824" y="9389995"/>
                </a:lnTo>
                <a:lnTo>
                  <a:pt x="17486633" y="9418059"/>
                </a:lnTo>
                <a:lnTo>
                  <a:pt x="17445651" y="9440783"/>
                </a:lnTo>
                <a:lnTo>
                  <a:pt x="17401394" y="9457654"/>
                </a:lnTo>
                <a:lnTo>
                  <a:pt x="17354379" y="9468154"/>
                </a:lnTo>
                <a:lnTo>
                  <a:pt x="17305120" y="94717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81976" y="1017020"/>
            <a:ext cx="2619375" cy="977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9368" y="2307661"/>
            <a:ext cx="10911205" cy="645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373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3" name="object 13"/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79" name="Picture 2" descr="image.png">
            <a:extLst>
              <a:ext uri="{FF2B5EF4-FFF2-40B4-BE49-F238E27FC236}">
                <a16:creationId xmlns:a16="http://schemas.microsoft.com/office/drawing/2014/main" id="{5BDAB6FB-A295-795E-24D5-96557472B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281112"/>
            <a:ext cx="8681767" cy="3633788"/>
          </a:xfrm>
          <a:prstGeom prst="rect">
            <a:avLst/>
          </a:prstGeom>
        </p:spPr>
      </p:pic>
      <p:sp>
        <p:nvSpPr>
          <p:cNvPr id="80" name="Rectangle 11">
            <a:extLst>
              <a:ext uri="{FF2B5EF4-FFF2-40B4-BE49-F238E27FC236}">
                <a16:creationId xmlns:a16="http://schemas.microsoft.com/office/drawing/2014/main" id="{B1AD251A-2014-2095-E61F-E715C1DCDC55}"/>
              </a:ext>
            </a:extLst>
          </p:cNvPr>
          <p:cNvSpPr/>
          <p:nvPr/>
        </p:nvSpPr>
        <p:spPr>
          <a:xfrm>
            <a:off x="542925" y="2406253"/>
            <a:ext cx="8651500" cy="60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16" descr="image.png">
            <a:extLst>
              <a:ext uri="{FF2B5EF4-FFF2-40B4-BE49-F238E27FC236}">
                <a16:creationId xmlns:a16="http://schemas.microsoft.com/office/drawing/2014/main" id="{C659DE51-420D-82A9-7FB3-393D5BA4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250" y="1485060"/>
            <a:ext cx="1678881" cy="287376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554B50F-2B33-F425-5667-0CC9D0C647E8}"/>
              </a:ext>
            </a:extLst>
          </p:cNvPr>
          <p:cNvSpPr txBox="1"/>
          <p:nvPr/>
        </p:nvSpPr>
        <p:spPr>
          <a:xfrm>
            <a:off x="923937" y="2126091"/>
            <a:ext cx="7683512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Real-time Detection: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YOLOv10 / RT-DETR (Edge NPU 30+ FPS, FP16/INT8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양자화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5A7B13-938E-0113-DFF3-35111D15387A}"/>
              </a:ext>
            </a:extLst>
          </p:cNvPr>
          <p:cNvSpPr txBox="1"/>
          <p:nvPr/>
        </p:nvSpPr>
        <p:spPr>
          <a:xfrm>
            <a:off x="923925" y="2691559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탐지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대상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작업자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외부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침입자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차량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울타리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파손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전력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설비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아크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(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화재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52F9C0-7EA0-9E6D-D516-A2A0558CA014}"/>
              </a:ext>
            </a:extLst>
          </p:cNvPr>
          <p:cNvSpPr txBox="1"/>
          <p:nvPr/>
        </p:nvSpPr>
        <p:spPr>
          <a:xfrm>
            <a:off x="923925" y="3164485"/>
            <a:ext cx="7683524" cy="208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RGB + Thermal Fusion: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열화상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-Vision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융합으로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달성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pic>
        <p:nvPicPr>
          <p:cNvPr id="85" name="Picture 32" descr="image.png">
            <a:extLst>
              <a:ext uri="{FF2B5EF4-FFF2-40B4-BE49-F238E27FC236}">
                <a16:creationId xmlns:a16="http://schemas.microsoft.com/office/drawing/2014/main" id="{FFBDD92A-F3D6-9C0D-1A50-E1073CB10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4" y="1500186"/>
            <a:ext cx="544501" cy="54450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4ACA6618-5049-B908-78F5-3252363BDEFB}"/>
              </a:ext>
            </a:extLst>
          </p:cNvPr>
          <p:cNvSpPr txBox="1"/>
          <p:nvPr/>
        </p:nvSpPr>
        <p:spPr>
          <a:xfrm>
            <a:off x="1444117" y="1635617"/>
            <a:ext cx="34144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retendard"/>
              </a:rPr>
              <a:t>1. Vision &amp; Sensor Fusion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9A98BE-5798-9AAD-711B-33A4B6C9BA08}"/>
              </a:ext>
            </a:extLst>
          </p:cNvPr>
          <p:cNvSpPr txBox="1"/>
          <p:nvPr/>
        </p:nvSpPr>
        <p:spPr>
          <a:xfrm>
            <a:off x="771537" y="2173717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0284C7"/>
                </a:solidFill>
                <a:latin typeface="Pretendard"/>
              </a:rPr>
              <a:t>■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CC5DF5-ABA8-1FB5-4BE1-33CFCB7287E1}"/>
              </a:ext>
            </a:extLst>
          </p:cNvPr>
          <p:cNvSpPr txBox="1"/>
          <p:nvPr/>
        </p:nvSpPr>
        <p:spPr>
          <a:xfrm>
            <a:off x="771525" y="2739184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>
                <a:solidFill>
                  <a:srgbClr val="0284C7"/>
                </a:solidFill>
                <a:latin typeface="Pretendard"/>
              </a:rPr>
              <a:t>■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60DF80-D2E9-716F-DB4A-BF55F73A746B}"/>
              </a:ext>
            </a:extLst>
          </p:cNvPr>
          <p:cNvSpPr txBox="1"/>
          <p:nvPr/>
        </p:nvSpPr>
        <p:spPr>
          <a:xfrm>
            <a:off x="771525" y="3212110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0284C7"/>
                </a:solidFill>
                <a:latin typeface="Pretendard"/>
              </a:rPr>
              <a:t>■</a:t>
            </a:r>
          </a:p>
        </p:txBody>
      </p:sp>
      <p:pic>
        <p:nvPicPr>
          <p:cNvPr id="90" name="Picture 37" descr="image.png">
            <a:extLst>
              <a:ext uri="{FF2B5EF4-FFF2-40B4-BE49-F238E27FC236}">
                <a16:creationId xmlns:a16="http://schemas.microsoft.com/office/drawing/2014/main" id="{7D09D640-9DA5-4B4C-FE82-5AE8A0D0D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044" y="3075984"/>
            <a:ext cx="1799882" cy="272251"/>
          </a:xfrm>
          <a:prstGeom prst="rect">
            <a:avLst/>
          </a:prstGeom>
        </p:spPr>
      </p:pic>
      <p:pic>
        <p:nvPicPr>
          <p:cNvPr id="91" name="Picture 55" descr="image.png">
            <a:extLst>
              <a:ext uri="{FF2B5EF4-FFF2-40B4-BE49-F238E27FC236}">
                <a16:creationId xmlns:a16="http://schemas.microsoft.com/office/drawing/2014/main" id="{7DB640A6-19D0-CBB2-2895-68D9E13A8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14" y="1651436"/>
            <a:ext cx="272250" cy="242000"/>
          </a:xfrm>
          <a:prstGeom prst="rect">
            <a:avLst/>
          </a:prstGeom>
        </p:spPr>
      </p:pic>
      <p:pic>
        <p:nvPicPr>
          <p:cNvPr id="92" name="Picture 3" descr="image.png">
            <a:extLst>
              <a:ext uri="{FF2B5EF4-FFF2-40B4-BE49-F238E27FC236}">
                <a16:creationId xmlns:a16="http://schemas.microsoft.com/office/drawing/2014/main" id="{C5D9DAE9-8A01-873E-B34F-261EC5E13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4081" y="1281112"/>
            <a:ext cx="8681767" cy="3633788"/>
          </a:xfrm>
          <a:prstGeom prst="rect">
            <a:avLst/>
          </a:prstGeom>
        </p:spPr>
      </p:pic>
      <p:sp>
        <p:nvSpPr>
          <p:cNvPr id="93" name="Rectangle 12">
            <a:extLst>
              <a:ext uri="{FF2B5EF4-FFF2-40B4-BE49-F238E27FC236}">
                <a16:creationId xmlns:a16="http://schemas.microsoft.com/office/drawing/2014/main" id="{D39AEFD4-7C2D-1A79-0A3E-CCEFC8583174}"/>
              </a:ext>
            </a:extLst>
          </p:cNvPr>
          <p:cNvSpPr/>
          <p:nvPr/>
        </p:nvSpPr>
        <p:spPr>
          <a:xfrm>
            <a:off x="9003607" y="2406253"/>
            <a:ext cx="8651500" cy="60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20" descr="image.png">
            <a:extLst>
              <a:ext uri="{FF2B5EF4-FFF2-40B4-BE49-F238E27FC236}">
                <a16:creationId xmlns:a16="http://schemas.microsoft.com/office/drawing/2014/main" id="{ADD284BC-747F-B36D-2900-A210F8817D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23343" y="1497487"/>
            <a:ext cx="2193133" cy="2873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F2C98045-68F7-5404-6F0D-081CE62C4C6A}"/>
              </a:ext>
            </a:extLst>
          </p:cNvPr>
          <p:cNvSpPr txBox="1"/>
          <p:nvPr/>
        </p:nvSpPr>
        <p:spPr>
          <a:xfrm>
            <a:off x="9384607" y="2127482"/>
            <a:ext cx="7683512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3D Visual-LiDAR SLAM: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Solid-state LiDAR + Stereo Camera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기반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3D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점군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지도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생성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89DAE8-908F-5E53-A48B-CC90A57277CD}"/>
              </a:ext>
            </a:extLst>
          </p:cNvPr>
          <p:cNvSpPr txBox="1"/>
          <p:nvPr/>
        </p:nvSpPr>
        <p:spPr>
          <a:xfrm>
            <a:off x="9384607" y="2643251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GPS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음영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극복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변전소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고압선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전자기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교란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구역에서도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센서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자율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위치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추정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3D6D2B-2DED-B36E-08AF-2ACC4B5C0714}"/>
              </a:ext>
            </a:extLst>
          </p:cNvPr>
          <p:cNvSpPr txBox="1"/>
          <p:nvPr/>
        </p:nvSpPr>
        <p:spPr>
          <a:xfrm>
            <a:off x="9384607" y="3113319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정밀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도킹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AI: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50ms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이내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실시간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경로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재설정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및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pic>
        <p:nvPicPr>
          <p:cNvPr id="98" name="Picture 38" descr="image.png">
            <a:extLst>
              <a:ext uri="{FF2B5EF4-FFF2-40B4-BE49-F238E27FC236}">
                <a16:creationId xmlns:a16="http://schemas.microsoft.com/office/drawing/2014/main" id="{F2FA7233-511F-A74E-EBBF-452470426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2206" y="1500186"/>
            <a:ext cx="544501" cy="544501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0A16D11F-4966-6323-60F4-CA6A0C295B9B}"/>
              </a:ext>
            </a:extLst>
          </p:cNvPr>
          <p:cNvSpPr txBox="1"/>
          <p:nvPr/>
        </p:nvSpPr>
        <p:spPr>
          <a:xfrm>
            <a:off x="9914102" y="1618547"/>
            <a:ext cx="379563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retendard"/>
              </a:rPr>
              <a:t>2. Spatial AI &amp; SLAM Engine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2FD48B-828B-C71B-6FEA-07576A67DA55}"/>
              </a:ext>
            </a:extLst>
          </p:cNvPr>
          <p:cNvSpPr txBox="1"/>
          <p:nvPr/>
        </p:nvSpPr>
        <p:spPr>
          <a:xfrm>
            <a:off x="9232207" y="2175108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0D9488"/>
                </a:solidFill>
                <a:latin typeface="Pretendard"/>
              </a:rPr>
              <a:t>■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C2A50E-0682-8976-2AF4-9D736207E8B7}"/>
              </a:ext>
            </a:extLst>
          </p:cNvPr>
          <p:cNvSpPr txBox="1"/>
          <p:nvPr/>
        </p:nvSpPr>
        <p:spPr>
          <a:xfrm>
            <a:off x="9232207" y="2690876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0D9488"/>
                </a:solidFill>
                <a:latin typeface="Pretendard"/>
              </a:rPr>
              <a:t>■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66BCE9C-4741-29A8-1B3D-2E6B45FBE142}"/>
              </a:ext>
            </a:extLst>
          </p:cNvPr>
          <p:cNvSpPr txBox="1"/>
          <p:nvPr/>
        </p:nvSpPr>
        <p:spPr>
          <a:xfrm>
            <a:off x="9232207" y="3160944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0D9488"/>
                </a:solidFill>
                <a:latin typeface="Pretendard"/>
              </a:rPr>
              <a:t>■</a:t>
            </a:r>
          </a:p>
        </p:txBody>
      </p:sp>
      <p:pic>
        <p:nvPicPr>
          <p:cNvPr id="103" name="Picture 43" descr="image.png">
            <a:extLst>
              <a:ext uri="{FF2B5EF4-FFF2-40B4-BE49-F238E27FC236}">
                <a16:creationId xmlns:a16="http://schemas.microsoft.com/office/drawing/2014/main" id="{B5499F92-EDC3-198C-73A1-65B1E7A207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63527" y="3047259"/>
            <a:ext cx="2178008" cy="272251"/>
          </a:xfrm>
          <a:prstGeom prst="rect">
            <a:avLst/>
          </a:prstGeom>
        </p:spPr>
      </p:pic>
      <p:pic>
        <p:nvPicPr>
          <p:cNvPr id="104" name="Picture 56" descr="image.png">
            <a:extLst>
              <a:ext uri="{FF2B5EF4-FFF2-40B4-BE49-F238E27FC236}">
                <a16:creationId xmlns:a16="http://schemas.microsoft.com/office/drawing/2014/main" id="{D882728E-8BE1-5AA6-DAE8-7093B5F75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3456" y="1651436"/>
            <a:ext cx="242000" cy="242000"/>
          </a:xfrm>
          <a:prstGeom prst="rect">
            <a:avLst/>
          </a:prstGeom>
        </p:spPr>
      </p:pic>
      <p:pic>
        <p:nvPicPr>
          <p:cNvPr id="105" name="Picture 4" descr="image.png">
            <a:extLst>
              <a:ext uri="{FF2B5EF4-FFF2-40B4-BE49-F238E27FC236}">
                <a16:creationId xmlns:a16="http://schemas.microsoft.com/office/drawing/2014/main" id="{80821013-386B-3932-C001-7C1BC1A7CF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399" y="5165147"/>
            <a:ext cx="8681767" cy="3633788"/>
          </a:xfrm>
          <a:prstGeom prst="rect">
            <a:avLst/>
          </a:prstGeom>
        </p:spPr>
      </p:pic>
      <p:sp>
        <p:nvSpPr>
          <p:cNvPr id="106" name="Rectangle 13">
            <a:extLst>
              <a:ext uri="{FF2B5EF4-FFF2-40B4-BE49-F238E27FC236}">
                <a16:creationId xmlns:a16="http://schemas.microsoft.com/office/drawing/2014/main" id="{B228F308-EB68-2DFD-B2C6-FA2E051DD2AE}"/>
              </a:ext>
            </a:extLst>
          </p:cNvPr>
          <p:cNvSpPr/>
          <p:nvPr/>
        </p:nvSpPr>
        <p:spPr>
          <a:xfrm>
            <a:off x="542925" y="6290288"/>
            <a:ext cx="8651500" cy="60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7" name="Picture 24" descr="image.png">
            <a:extLst>
              <a:ext uri="{FF2B5EF4-FFF2-40B4-BE49-F238E27FC236}">
                <a16:creationId xmlns:a16="http://schemas.microsoft.com/office/drawing/2014/main" id="{A2B50938-8251-FAE0-C703-23BB0F7DAA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500" y="5369095"/>
            <a:ext cx="1769631" cy="287376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E93334E5-5E93-7D26-CF46-4502B6074467}"/>
              </a:ext>
            </a:extLst>
          </p:cNvPr>
          <p:cNvSpPr txBox="1"/>
          <p:nvPr/>
        </p:nvSpPr>
        <p:spPr>
          <a:xfrm>
            <a:off x="923925" y="6023973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행동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패턴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분석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Pose Estimation (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RTMPose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) + ST-GCN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관절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추적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(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월담·배회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감지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0A4AAD3-B448-3108-DF69-29026033BC6C}"/>
              </a:ext>
            </a:extLst>
          </p:cNvPr>
          <p:cNvSpPr txBox="1"/>
          <p:nvPr/>
        </p:nvSpPr>
        <p:spPr>
          <a:xfrm>
            <a:off x="923925" y="6540344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Zero-Shot VLM: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Moondream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/ Florence-2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기반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안전모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및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허가구역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검증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5C2A25F-2D57-6CB5-6423-384C79493CCB}"/>
              </a:ext>
            </a:extLst>
          </p:cNvPr>
          <p:cNvSpPr txBox="1"/>
          <p:nvPr/>
        </p:nvSpPr>
        <p:spPr>
          <a:xfrm>
            <a:off x="923925" y="7053863"/>
            <a:ext cx="7683524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오경보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 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필터링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수목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흔들림·소형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동물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이동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등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pic>
        <p:nvPicPr>
          <p:cNvPr id="111" name="Picture 44" descr="image.png">
            <a:extLst>
              <a:ext uri="{FF2B5EF4-FFF2-40B4-BE49-F238E27FC236}">
                <a16:creationId xmlns:a16="http://schemas.microsoft.com/office/drawing/2014/main" id="{320F362D-FE56-B767-8E22-AEC55528A9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4" y="5384221"/>
            <a:ext cx="544501" cy="544501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6F116C7-A8CC-3237-8318-4FE749A72208}"/>
              </a:ext>
            </a:extLst>
          </p:cNvPr>
          <p:cNvSpPr txBox="1"/>
          <p:nvPr/>
        </p:nvSpPr>
        <p:spPr>
          <a:xfrm>
            <a:off x="1478753" y="5497602"/>
            <a:ext cx="451028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retendard"/>
              </a:rPr>
              <a:t>3. Context Reasoning &amp; Anomaly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5D574E2-3F28-7B89-71F7-B7BBD29FF843}"/>
              </a:ext>
            </a:extLst>
          </p:cNvPr>
          <p:cNvSpPr txBox="1"/>
          <p:nvPr/>
        </p:nvSpPr>
        <p:spPr>
          <a:xfrm>
            <a:off x="771525" y="6071598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4F46E5"/>
                </a:solidFill>
                <a:latin typeface="Pretendard"/>
              </a:rPr>
              <a:t>■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86B97D9-7861-F7B5-37EA-D6B028DD83C5}"/>
              </a:ext>
            </a:extLst>
          </p:cNvPr>
          <p:cNvSpPr txBox="1"/>
          <p:nvPr/>
        </p:nvSpPr>
        <p:spPr>
          <a:xfrm>
            <a:off x="771525" y="6587969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>
                <a:solidFill>
                  <a:srgbClr val="4F46E5"/>
                </a:solidFill>
                <a:latin typeface="Pretendard"/>
              </a:rPr>
              <a:t>■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830BB3F-9BAF-D3A9-5285-D8FC404C43E2}"/>
              </a:ext>
            </a:extLst>
          </p:cNvPr>
          <p:cNvSpPr txBox="1"/>
          <p:nvPr/>
        </p:nvSpPr>
        <p:spPr>
          <a:xfrm>
            <a:off x="771525" y="7101488"/>
            <a:ext cx="105875" cy="106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>
                <a:solidFill>
                  <a:srgbClr val="4F46E5"/>
                </a:solidFill>
                <a:latin typeface="Pretendard"/>
              </a:rPr>
              <a:t>■</a:t>
            </a:r>
          </a:p>
        </p:txBody>
      </p:sp>
      <p:pic>
        <p:nvPicPr>
          <p:cNvPr id="116" name="Picture 49" descr="image.png">
            <a:extLst>
              <a:ext uri="{FF2B5EF4-FFF2-40B4-BE49-F238E27FC236}">
                <a16:creationId xmlns:a16="http://schemas.microsoft.com/office/drawing/2014/main" id="{45E04DD4-1A80-8E3D-1CEB-6196E4BB34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3730" y="6982041"/>
            <a:ext cx="2480509" cy="272251"/>
          </a:xfrm>
          <a:prstGeom prst="rect">
            <a:avLst/>
          </a:prstGeom>
        </p:spPr>
      </p:pic>
      <p:pic>
        <p:nvPicPr>
          <p:cNvPr id="117" name="Picture 57" descr="image.png">
            <a:extLst>
              <a:ext uri="{FF2B5EF4-FFF2-40B4-BE49-F238E27FC236}">
                <a16:creationId xmlns:a16="http://schemas.microsoft.com/office/drawing/2014/main" id="{19A139AD-0C6E-0934-D51B-058B117F7E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25" y="5534962"/>
            <a:ext cx="242000" cy="242000"/>
          </a:xfrm>
          <a:prstGeom prst="rect">
            <a:avLst/>
          </a:prstGeom>
        </p:spPr>
      </p:pic>
      <p:pic>
        <p:nvPicPr>
          <p:cNvPr id="118" name="Picture 5" descr="image.png">
            <a:extLst>
              <a:ext uri="{FF2B5EF4-FFF2-40B4-BE49-F238E27FC236}">
                <a16:creationId xmlns:a16="http://schemas.microsoft.com/office/drawing/2014/main" id="{033CFD8B-F4FB-FB78-A361-B0C63228AF4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03606" y="5159949"/>
            <a:ext cx="8694183" cy="3638985"/>
          </a:xfrm>
          <a:prstGeom prst="rect">
            <a:avLst/>
          </a:prstGeom>
        </p:spPr>
      </p:pic>
      <p:sp>
        <p:nvSpPr>
          <p:cNvPr id="119" name="Rectangle 14">
            <a:extLst>
              <a:ext uri="{FF2B5EF4-FFF2-40B4-BE49-F238E27FC236}">
                <a16:creationId xmlns:a16="http://schemas.microsoft.com/office/drawing/2014/main" id="{C87ADEA2-6E18-A94F-D735-9A4E477F1743}"/>
              </a:ext>
            </a:extLst>
          </p:cNvPr>
          <p:cNvSpPr/>
          <p:nvPr/>
        </p:nvSpPr>
        <p:spPr>
          <a:xfrm>
            <a:off x="9013131" y="6285089"/>
            <a:ext cx="8663872" cy="6058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28" descr="image.png">
            <a:extLst>
              <a:ext uri="{FF2B5EF4-FFF2-40B4-BE49-F238E27FC236}">
                <a16:creationId xmlns:a16="http://schemas.microsoft.com/office/drawing/2014/main" id="{E7B8BBA7-C5F4-6D82-1653-25B9398348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994175" y="5365221"/>
            <a:ext cx="1529811" cy="287786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5E5EF54C-730F-F194-5952-EA39D5EFA616}"/>
              </a:ext>
            </a:extLst>
          </p:cNvPr>
          <p:cNvSpPr txBox="1"/>
          <p:nvPr/>
        </p:nvSpPr>
        <p:spPr>
          <a:xfrm>
            <a:off x="9394131" y="5993809"/>
            <a:ext cx="7694496" cy="207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Edge AI (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드론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):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Jetson Orin Nano /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TensorRT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INT8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적용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(</a:t>
            </a:r>
            <a:r>
              <a:rPr lang="en-US" altLang="ko-KR" sz="1600" b="0" i="0" u="none" dirty="0">
                <a:solidFill>
                  <a:srgbClr val="334155"/>
                </a:solidFill>
                <a:latin typeface="Pretendard"/>
              </a:rPr>
              <a:t>15</a:t>
            </a:r>
            <a:r>
              <a:rPr lang="en-US" altLang="ko-KR" sz="1600" dirty="0">
                <a:solidFill>
                  <a:srgbClr val="334155"/>
                </a:solidFill>
                <a:latin typeface="Pretendard"/>
              </a:rPr>
              <a:t>W </a:t>
            </a:r>
            <a:r>
              <a:rPr lang="ko-KR" altLang="en-US" sz="1600" dirty="0" err="1">
                <a:solidFill>
                  <a:srgbClr val="334155"/>
                </a:solidFill>
                <a:latin typeface="Pretendard"/>
              </a:rPr>
              <a:t>초저전력</a:t>
            </a:r>
            <a:r>
              <a:rPr lang="ko-KR" altLang="en-US" sz="1600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현장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감지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B18A57C-5110-8509-AAF1-6476AF28021C}"/>
              </a:ext>
            </a:extLst>
          </p:cNvPr>
          <p:cNvSpPr txBox="1"/>
          <p:nvPr/>
        </p:nvSpPr>
        <p:spPr>
          <a:xfrm>
            <a:off x="9394131" y="6521344"/>
            <a:ext cx="7694496" cy="207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Cloud AI (</a:t>
            </a:r>
            <a:r>
              <a:rPr sz="1600" b="1" i="0" u="none" dirty="0" err="1">
                <a:solidFill>
                  <a:srgbClr val="0F172A"/>
                </a:solidFill>
                <a:latin typeface="Pretendard"/>
              </a:rPr>
              <a:t>서버</a:t>
            </a: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):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VLM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맥락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추론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전사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로그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및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Active Learning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주간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자동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재학습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19FF71F-521A-D6BD-7231-F173F8727D8E}"/>
              </a:ext>
            </a:extLst>
          </p:cNvPr>
          <p:cNvSpPr txBox="1"/>
          <p:nvPr/>
        </p:nvSpPr>
        <p:spPr>
          <a:xfrm>
            <a:off x="9394131" y="7029274"/>
            <a:ext cx="7694496" cy="207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1" i="0" u="none" dirty="0">
                <a:solidFill>
                  <a:srgbClr val="0F172A"/>
                </a:solidFill>
                <a:latin typeface="Pretendard"/>
              </a:rPr>
              <a:t>Synthetic Data: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NVIDIA Isaac Sim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기반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가상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변전소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시뮬레이션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데이터</a:t>
            </a:r>
            <a:r>
              <a:rPr sz="1600" b="0" i="0" u="none" dirty="0">
                <a:solidFill>
                  <a:srgbClr val="334155"/>
                </a:solidFill>
                <a:latin typeface="Pretendard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Pretendard"/>
              </a:rPr>
              <a:t>융합</a:t>
            </a:r>
            <a:endParaRPr sz="1600" b="0" i="0" u="none" dirty="0">
              <a:solidFill>
                <a:srgbClr val="334155"/>
              </a:solidFill>
              <a:latin typeface="Pretendard"/>
            </a:endParaRPr>
          </a:p>
        </p:txBody>
      </p:sp>
      <p:pic>
        <p:nvPicPr>
          <p:cNvPr id="124" name="Picture 50" descr="image.png">
            <a:extLst>
              <a:ext uri="{FF2B5EF4-FFF2-40B4-BE49-F238E27FC236}">
                <a16:creationId xmlns:a16="http://schemas.microsoft.com/office/drawing/2014/main" id="{48EDE364-E568-085B-0D2C-60D0DC5E64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41731" y="5379024"/>
            <a:ext cx="545279" cy="545279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5DD6E578-1BBF-FAE6-ECE2-344E25D88201}"/>
              </a:ext>
            </a:extLst>
          </p:cNvPr>
          <p:cNvSpPr txBox="1"/>
          <p:nvPr/>
        </p:nvSpPr>
        <p:spPr>
          <a:xfrm>
            <a:off x="9913810" y="5492027"/>
            <a:ext cx="4150940" cy="309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retendard"/>
              </a:rPr>
              <a:t>4. Edge-Cloud </a:t>
            </a:r>
            <a:r>
              <a:rPr sz="2000" b="1" i="0" u="none" dirty="0" err="1">
                <a:solidFill>
                  <a:srgbClr val="0F172A"/>
                </a:solidFill>
                <a:latin typeface="Pretendard"/>
              </a:rPr>
              <a:t>MLOps</a:t>
            </a:r>
            <a:r>
              <a:rPr sz="2000" b="1" i="0" u="none" dirty="0">
                <a:solidFill>
                  <a:srgbClr val="0F172A"/>
                </a:solidFill>
                <a:latin typeface="Pretendard"/>
              </a:rPr>
              <a:t> Pipeline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0A989AE-A578-958C-7C27-AC9331A5DF85}"/>
              </a:ext>
            </a:extLst>
          </p:cNvPr>
          <p:cNvSpPr txBox="1"/>
          <p:nvPr/>
        </p:nvSpPr>
        <p:spPr>
          <a:xfrm>
            <a:off x="9241732" y="6041435"/>
            <a:ext cx="106026" cy="106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2563EB"/>
                </a:solidFill>
                <a:latin typeface="Pretendard"/>
              </a:rPr>
              <a:t>■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5EF30A3-D144-3A65-C3ED-70A2924D1986}"/>
              </a:ext>
            </a:extLst>
          </p:cNvPr>
          <p:cNvSpPr txBox="1"/>
          <p:nvPr/>
        </p:nvSpPr>
        <p:spPr>
          <a:xfrm>
            <a:off x="9241732" y="6568970"/>
            <a:ext cx="106026" cy="106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>
                <a:solidFill>
                  <a:srgbClr val="2563EB"/>
                </a:solidFill>
                <a:latin typeface="Pretendard"/>
              </a:rPr>
              <a:t>■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7F77E5E-52C2-594E-784C-4D402D4B2B8C}"/>
              </a:ext>
            </a:extLst>
          </p:cNvPr>
          <p:cNvSpPr txBox="1"/>
          <p:nvPr/>
        </p:nvSpPr>
        <p:spPr>
          <a:xfrm>
            <a:off x="9241732" y="7076900"/>
            <a:ext cx="106026" cy="106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600" b="0" i="0" u="none" dirty="0">
                <a:solidFill>
                  <a:srgbClr val="2563EB"/>
                </a:solidFill>
                <a:latin typeface="Pretendard"/>
              </a:rPr>
              <a:t>■</a:t>
            </a:r>
          </a:p>
        </p:txBody>
      </p:sp>
      <p:pic>
        <p:nvPicPr>
          <p:cNvPr id="129" name="Picture 58" descr="image.png">
            <a:extLst>
              <a:ext uri="{FF2B5EF4-FFF2-40B4-BE49-F238E27FC236}">
                <a16:creationId xmlns:a16="http://schemas.microsoft.com/office/drawing/2014/main" id="{5015C41E-3DEA-9EA7-05ED-81D682D215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62903" y="5528168"/>
            <a:ext cx="302933" cy="242347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2E0A5865-31EE-6818-A5B8-B34073D2CDE0}"/>
              </a:ext>
            </a:extLst>
          </p:cNvPr>
          <p:cNvSpPr txBox="1"/>
          <p:nvPr/>
        </p:nvSpPr>
        <p:spPr>
          <a:xfrm>
            <a:off x="533400" y="619125"/>
            <a:ext cx="11658600" cy="344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핵심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AI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및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소프트웨어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모듈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구성</a:t>
            </a:r>
            <a:endParaRPr sz="2300" b="0" i="0" u="none" dirty="0">
              <a:solidFill>
                <a:srgbClr val="0F172A"/>
              </a:solidFill>
              <a:latin typeface="Pretendard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E350-4164-2555-15BF-8AF0942A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>
            <a:extLst>
              <a:ext uri="{FF2B5EF4-FFF2-40B4-BE49-F238E27FC236}">
                <a16:creationId xmlns:a16="http://schemas.microsoft.com/office/drawing/2014/main" id="{B941ABC1-5796-A468-4F43-73B2EEA32ACD}"/>
              </a:ext>
            </a:extLst>
          </p:cNvPr>
          <p:cNvSpPr/>
          <p:nvPr/>
        </p:nvSpPr>
        <p:spPr>
          <a:xfrm>
            <a:off x="5634349" y="0"/>
            <a:ext cx="7019925" cy="1028700"/>
          </a:xfrm>
          <a:custGeom>
            <a:avLst/>
            <a:gdLst/>
            <a:ahLst/>
            <a:cxnLst/>
            <a:rect l="l" t="t" r="r" b="b"/>
            <a:pathLst>
              <a:path w="7019925" h="1028700">
                <a:moveTo>
                  <a:pt x="6504949" y="1028699"/>
                </a:moveTo>
                <a:lnTo>
                  <a:pt x="514349" y="1028699"/>
                </a:lnTo>
                <a:lnTo>
                  <a:pt x="467532" y="1026597"/>
                </a:lnTo>
                <a:lnTo>
                  <a:pt x="421893" y="1020413"/>
                </a:lnTo>
                <a:lnTo>
                  <a:pt x="377613" y="1010326"/>
                </a:lnTo>
                <a:lnTo>
                  <a:pt x="334874" y="996520"/>
                </a:lnTo>
                <a:lnTo>
                  <a:pt x="293857" y="979176"/>
                </a:lnTo>
                <a:lnTo>
                  <a:pt x="254745" y="958476"/>
                </a:lnTo>
                <a:lnTo>
                  <a:pt x="217718" y="934600"/>
                </a:lnTo>
                <a:lnTo>
                  <a:pt x="182958" y="907731"/>
                </a:lnTo>
                <a:lnTo>
                  <a:pt x="150647" y="878050"/>
                </a:lnTo>
                <a:lnTo>
                  <a:pt x="120966" y="845739"/>
                </a:lnTo>
                <a:lnTo>
                  <a:pt x="94097" y="810979"/>
                </a:lnTo>
                <a:lnTo>
                  <a:pt x="70222" y="773952"/>
                </a:lnTo>
                <a:lnTo>
                  <a:pt x="49522" y="734839"/>
                </a:lnTo>
                <a:lnTo>
                  <a:pt x="32178" y="693823"/>
                </a:lnTo>
                <a:lnTo>
                  <a:pt x="18372" y="651084"/>
                </a:lnTo>
                <a:lnTo>
                  <a:pt x="8286" y="606804"/>
                </a:lnTo>
                <a:lnTo>
                  <a:pt x="2101" y="561166"/>
                </a:lnTo>
                <a:lnTo>
                  <a:pt x="0" y="514349"/>
                </a:lnTo>
                <a:lnTo>
                  <a:pt x="2101" y="467533"/>
                </a:lnTo>
                <a:lnTo>
                  <a:pt x="8286" y="421894"/>
                </a:lnTo>
                <a:lnTo>
                  <a:pt x="18372" y="377615"/>
                </a:lnTo>
                <a:lnTo>
                  <a:pt x="32178" y="334876"/>
                </a:lnTo>
                <a:lnTo>
                  <a:pt x="49522" y="293860"/>
                </a:lnTo>
                <a:lnTo>
                  <a:pt x="70222" y="254747"/>
                </a:lnTo>
                <a:lnTo>
                  <a:pt x="94097" y="217720"/>
                </a:lnTo>
                <a:lnTo>
                  <a:pt x="120966" y="182960"/>
                </a:lnTo>
                <a:lnTo>
                  <a:pt x="150647" y="150649"/>
                </a:lnTo>
                <a:lnTo>
                  <a:pt x="182958" y="120968"/>
                </a:lnTo>
                <a:lnTo>
                  <a:pt x="217718" y="94099"/>
                </a:lnTo>
                <a:lnTo>
                  <a:pt x="254745" y="70223"/>
                </a:lnTo>
                <a:lnTo>
                  <a:pt x="293857" y="49523"/>
                </a:lnTo>
                <a:lnTo>
                  <a:pt x="334874" y="32179"/>
                </a:lnTo>
                <a:lnTo>
                  <a:pt x="377613" y="18373"/>
                </a:lnTo>
                <a:lnTo>
                  <a:pt x="421893" y="8286"/>
                </a:lnTo>
                <a:lnTo>
                  <a:pt x="467532" y="2101"/>
                </a:lnTo>
                <a:lnTo>
                  <a:pt x="514349" y="0"/>
                </a:lnTo>
                <a:lnTo>
                  <a:pt x="6504949" y="0"/>
                </a:lnTo>
                <a:lnTo>
                  <a:pt x="6551766" y="2101"/>
                </a:lnTo>
                <a:lnTo>
                  <a:pt x="6597406" y="8286"/>
                </a:lnTo>
                <a:lnTo>
                  <a:pt x="6641686" y="18373"/>
                </a:lnTo>
                <a:lnTo>
                  <a:pt x="6684425" y="32179"/>
                </a:lnTo>
                <a:lnTo>
                  <a:pt x="6725442" y="49523"/>
                </a:lnTo>
                <a:lnTo>
                  <a:pt x="6764554" y="70223"/>
                </a:lnTo>
                <a:lnTo>
                  <a:pt x="6801581" y="94099"/>
                </a:lnTo>
                <a:lnTo>
                  <a:pt x="6836341" y="120968"/>
                </a:lnTo>
                <a:lnTo>
                  <a:pt x="6868652" y="150649"/>
                </a:lnTo>
                <a:lnTo>
                  <a:pt x="6898332" y="182960"/>
                </a:lnTo>
                <a:lnTo>
                  <a:pt x="6925201" y="217720"/>
                </a:lnTo>
                <a:lnTo>
                  <a:pt x="6949077" y="254747"/>
                </a:lnTo>
                <a:lnTo>
                  <a:pt x="6969777" y="293860"/>
                </a:lnTo>
                <a:lnTo>
                  <a:pt x="6987121" y="334876"/>
                </a:lnTo>
                <a:lnTo>
                  <a:pt x="7000926" y="377615"/>
                </a:lnTo>
                <a:lnTo>
                  <a:pt x="7011012" y="421894"/>
                </a:lnTo>
                <a:lnTo>
                  <a:pt x="7017197" y="467533"/>
                </a:lnTo>
                <a:lnTo>
                  <a:pt x="7019299" y="514349"/>
                </a:lnTo>
                <a:lnTo>
                  <a:pt x="7017197" y="561166"/>
                </a:lnTo>
                <a:lnTo>
                  <a:pt x="7011012" y="606804"/>
                </a:lnTo>
                <a:lnTo>
                  <a:pt x="7000926" y="651084"/>
                </a:lnTo>
                <a:lnTo>
                  <a:pt x="6987121" y="693823"/>
                </a:lnTo>
                <a:lnTo>
                  <a:pt x="6969777" y="734839"/>
                </a:lnTo>
                <a:lnTo>
                  <a:pt x="6949077" y="773952"/>
                </a:lnTo>
                <a:lnTo>
                  <a:pt x="6925201" y="810979"/>
                </a:lnTo>
                <a:lnTo>
                  <a:pt x="6898332" y="845739"/>
                </a:lnTo>
                <a:lnTo>
                  <a:pt x="6868652" y="878050"/>
                </a:lnTo>
                <a:lnTo>
                  <a:pt x="6836341" y="907731"/>
                </a:lnTo>
                <a:lnTo>
                  <a:pt x="6801581" y="934600"/>
                </a:lnTo>
                <a:lnTo>
                  <a:pt x="6764554" y="958476"/>
                </a:lnTo>
                <a:lnTo>
                  <a:pt x="6725442" y="979176"/>
                </a:lnTo>
                <a:lnTo>
                  <a:pt x="6684425" y="996520"/>
                </a:lnTo>
                <a:lnTo>
                  <a:pt x="6641686" y="1010326"/>
                </a:lnTo>
                <a:lnTo>
                  <a:pt x="6597406" y="1020413"/>
                </a:lnTo>
                <a:lnTo>
                  <a:pt x="6551766" y="1026597"/>
                </a:lnTo>
                <a:lnTo>
                  <a:pt x="6504949" y="10286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502531E-477A-539E-B50C-02C990BFB0FB}"/>
              </a:ext>
            </a:extLst>
          </p:cNvPr>
          <p:cNvSpPr txBox="1"/>
          <p:nvPr/>
        </p:nvSpPr>
        <p:spPr>
          <a:xfrm>
            <a:off x="6495051" y="305205"/>
            <a:ext cx="529780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20" dirty="0">
                <a:solidFill>
                  <a:srgbClr val="535353"/>
                </a:solidFill>
                <a:latin typeface="Verdana"/>
                <a:cs typeface="Verdana"/>
              </a:rPr>
              <a:t>AI</a:t>
            </a:r>
            <a:r>
              <a:rPr sz="2000" spc="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2250" spc="-385" dirty="0">
                <a:solidFill>
                  <a:srgbClr val="535353"/>
                </a:solidFill>
                <a:latin typeface="Malgun Gothic"/>
                <a:cs typeface="Malgun Gothic"/>
              </a:rPr>
              <a:t>올인원</a:t>
            </a:r>
            <a:r>
              <a:rPr sz="2250" spc="-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spc="-315" dirty="0">
                <a:solidFill>
                  <a:srgbClr val="535353"/>
                </a:solidFill>
                <a:latin typeface="Verdana"/>
                <a:cs typeface="Verdana"/>
              </a:rPr>
              <a:t>2</a:t>
            </a:r>
            <a:r>
              <a:rPr sz="2250" spc="-315" dirty="0">
                <a:solidFill>
                  <a:srgbClr val="535353"/>
                </a:solidFill>
                <a:latin typeface="Malgun Gothic"/>
                <a:cs typeface="Malgun Gothic"/>
              </a:rPr>
              <a:t>기</a:t>
            </a:r>
            <a:r>
              <a:rPr sz="2250" spc="45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540" dirty="0">
                <a:solidFill>
                  <a:srgbClr val="535353"/>
                </a:solidFill>
                <a:latin typeface="Malgun Gothic"/>
                <a:cs typeface="Malgun Gothic"/>
              </a:rPr>
              <a:t>입</a:t>
            </a:r>
            <a:r>
              <a:rPr sz="2250" spc="-57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250" spc="-360" dirty="0">
                <a:solidFill>
                  <a:srgbClr val="535353"/>
                </a:solidFill>
                <a:latin typeface="Malgun Gothic"/>
                <a:cs typeface="Malgun Gothic"/>
              </a:rPr>
              <a:t>학연수과정</a:t>
            </a:r>
            <a:r>
              <a:rPr sz="2250" spc="30" dirty="0">
                <a:solidFill>
                  <a:srgbClr val="535353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535353"/>
                </a:solidFill>
                <a:latin typeface="Verdana"/>
                <a:cs typeface="Verdana"/>
              </a:rPr>
              <a:t>TERM-</a:t>
            </a:r>
            <a:r>
              <a:rPr sz="2000" spc="8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04E642-100B-9735-EDDF-3BA821251502}"/>
              </a:ext>
            </a:extLst>
          </p:cNvPr>
          <p:cNvSpPr txBox="1"/>
          <p:nvPr/>
        </p:nvSpPr>
        <p:spPr>
          <a:xfrm>
            <a:off x="533400" y="6437195"/>
            <a:ext cx="4182087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retendard Medium"/>
              </a:rPr>
              <a:t>변전소 자율 충전 드론 하드웨어 융합 설계</a:t>
            </a:r>
          </a:p>
        </p:txBody>
      </p:sp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F32240CD-213B-3E36-480F-EB96493DB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90768"/>
              </p:ext>
            </p:extLst>
          </p:nvPr>
        </p:nvGraphicFramePr>
        <p:xfrm>
          <a:off x="533400" y="1281112"/>
          <a:ext cx="8610600" cy="8358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651">
                <a:tc>
                  <a:txBody>
                    <a:bodyPr/>
                    <a:lstStyle/>
                    <a:p>
                      <a:pPr algn="l"/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(Module)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채택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탑재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부품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및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성능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FFFFFF"/>
                          </a:solidFill>
                          <a:latin typeface="Pretendard"/>
                        </a:rPr>
                        <a:t>사양</a:t>
                      </a:r>
                      <a:r>
                        <a:rPr sz="2200" b="1" i="0" u="none" dirty="0">
                          <a:solidFill>
                            <a:srgbClr val="FFFFFF"/>
                          </a:solidFill>
                          <a:latin typeface="Pretendard"/>
                        </a:rPr>
                        <a:t> (Hardware Specs)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670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메인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AI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컴퓨터</a:t>
                      </a:r>
                      <a:endParaRPr sz="2200" b="1" i="0" u="none" dirty="0">
                        <a:solidFill>
                          <a:srgbClr val="0F172A"/>
                        </a:solidFill>
                        <a:latin typeface="Pretendard"/>
                      </a:endParaRP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NVIDIA Jetson Orin Nano / NX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40~100 TOPS AI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연산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성능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/ 7~25W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초저전력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소비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YOLO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실시간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객체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탐지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&amp; SLAM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비행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제어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온디바이스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수행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670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   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3D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라이다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센서</a:t>
                      </a:r>
                      <a:endParaRPr sz="2200" b="1" i="0" u="none" dirty="0">
                        <a:solidFill>
                          <a:srgbClr val="0F172A"/>
                        </a:solidFill>
                        <a:latin typeface="Pretendard"/>
                      </a:endParaRPr>
                    </a:p>
                  </a:txBody>
                  <a:tcPr marL="1143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Livox</a:t>
                      </a:r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Mid-360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265g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초경량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설계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/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수평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360° ×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수직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59°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광각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탐지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변전소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고압선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및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미세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장애물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실시간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회피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지도화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670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열화상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카메라</a:t>
                      </a:r>
                      <a:endParaRPr sz="2200" b="1" i="0" u="none" dirty="0">
                        <a:solidFill>
                          <a:srgbClr val="0F172A"/>
                        </a:solidFill>
                        <a:latin typeface="Pretendard"/>
                      </a:endParaRP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Teledyne FLIR Boson 640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7.5g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초소형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/ 0.6W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초저전력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(640×512 LWIR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해상도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)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야간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침입자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비주얼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감지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및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전력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설비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과열·아크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감지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670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비행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제어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FC</a:t>
                      </a:r>
                    </a:p>
                  </a:txBody>
                  <a:tcPr marL="2762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Holybro</a:t>
                      </a:r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Pixhawk 6X / 6C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PX4 /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ArduPilot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표준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지원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, 3중 Redundant IMU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탑재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변전소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주변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강한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전자기장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속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높은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내간섭성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비행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유지</a:t>
                      </a:r>
                      <a:endParaRPr sz="1500" b="0" i="0" u="none" dirty="0">
                        <a:solidFill>
                          <a:srgbClr val="334155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670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유도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충전</a:t>
                      </a:r>
                      <a:r>
                        <a:rPr sz="2200" b="1" i="0" u="none" dirty="0">
                          <a:solidFill>
                            <a:srgbClr val="0F172A"/>
                          </a:solidFill>
                          <a:latin typeface="Pretendard"/>
                        </a:rPr>
                        <a:t> </a:t>
                      </a:r>
                      <a:r>
                        <a:rPr sz="2200" b="1" i="0" u="none" dirty="0" err="1">
                          <a:solidFill>
                            <a:srgbClr val="0F172A"/>
                          </a:solidFill>
                          <a:latin typeface="Pretendard"/>
                        </a:rPr>
                        <a:t>클램프</a:t>
                      </a:r>
                      <a:endParaRPr sz="2200" b="1" i="0" u="none" dirty="0">
                        <a:solidFill>
                          <a:srgbClr val="0F172A"/>
                        </a:solidFill>
                        <a:latin typeface="Pretendard"/>
                      </a:endParaRP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C-Core CT(</a:t>
                      </a:r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변류기</a:t>
                      </a:r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) </a:t>
                      </a:r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유도</a:t>
                      </a:r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충전</a:t>
                      </a:r>
                      <a:r>
                        <a:rPr sz="1500" b="1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시스템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송전선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주변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자기장을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흡수하여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드론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직접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무선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충전</a:t>
                      </a:r>
                      <a:r>
                        <a:rPr sz="1500" dirty="0"/>
                        <a:t>
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
          •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별도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기지국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복귀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Pretendard"/>
                        </a:rPr>
                        <a:t>없이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>
                          <a:solidFill>
                            <a:srgbClr val="0284C7"/>
                          </a:solidFill>
                          <a:latin typeface="Pretendard"/>
                        </a:rPr>
                        <a:t>24시간 </a:t>
                      </a:r>
                      <a:r>
                        <a:rPr sz="1500" b="1" i="0" u="none" dirty="0" err="1">
                          <a:solidFill>
                            <a:srgbClr val="0284C7"/>
                          </a:solidFill>
                          <a:latin typeface="Pretendard"/>
                        </a:rPr>
                        <a:t>무인</a:t>
                      </a:r>
                      <a:r>
                        <a:rPr sz="1500" b="1" i="0" u="none" dirty="0">
                          <a:solidFill>
                            <a:srgbClr val="0284C7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0284C7"/>
                          </a:solidFill>
                          <a:latin typeface="Pretendard"/>
                        </a:rPr>
                        <a:t>자율</a:t>
                      </a:r>
                      <a:r>
                        <a:rPr sz="1500" b="1" i="0" u="none" dirty="0">
                          <a:solidFill>
                            <a:srgbClr val="0284C7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0284C7"/>
                          </a:solidFill>
                          <a:latin typeface="Pretendard"/>
                        </a:rPr>
                        <a:t>연속</a:t>
                      </a:r>
                      <a:r>
                        <a:rPr sz="1500" b="1" i="0" u="none" dirty="0">
                          <a:solidFill>
                            <a:srgbClr val="0284C7"/>
                          </a:solidFill>
                          <a:latin typeface="Pretendard"/>
                        </a:rPr>
                        <a:t> </a:t>
                      </a:r>
                      <a:r>
                        <a:rPr sz="1500" b="1" i="0" u="none" dirty="0" err="1">
                          <a:solidFill>
                            <a:srgbClr val="0284C7"/>
                          </a:solidFill>
                          <a:latin typeface="Pretendard"/>
                        </a:rPr>
                        <a:t>운용</a:t>
                      </a:r>
                      <a:endParaRPr sz="1500" b="1" i="0" u="none" dirty="0">
                        <a:solidFill>
                          <a:srgbClr val="0284C7"/>
                        </a:solidFill>
                        <a:latin typeface="Pretendar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Rectangle 15">
            <a:extLst>
              <a:ext uri="{FF2B5EF4-FFF2-40B4-BE49-F238E27FC236}">
                <a16:creationId xmlns:a16="http://schemas.microsoft.com/office/drawing/2014/main" id="{5E51A0CC-DC84-53DA-B3DD-BF017B142CAD}"/>
              </a:ext>
            </a:extLst>
          </p:cNvPr>
          <p:cNvSpPr/>
          <p:nvPr/>
        </p:nvSpPr>
        <p:spPr>
          <a:xfrm>
            <a:off x="533400" y="8136975"/>
            <a:ext cx="2755351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98B0E95B-2EA2-5A83-4C52-DA60B031DEC0}"/>
              </a:ext>
            </a:extLst>
          </p:cNvPr>
          <p:cNvSpPr/>
          <p:nvPr/>
        </p:nvSpPr>
        <p:spPr>
          <a:xfrm>
            <a:off x="3278371" y="8141375"/>
            <a:ext cx="5855249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22AD4A12-7138-F544-464C-EDFA81C65E8A}"/>
              </a:ext>
            </a:extLst>
          </p:cNvPr>
          <p:cNvSpPr/>
          <p:nvPr/>
        </p:nvSpPr>
        <p:spPr>
          <a:xfrm>
            <a:off x="538162" y="6632433"/>
            <a:ext cx="2755351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56BDCD0B-0A8A-5848-86CF-70A17634761A}"/>
              </a:ext>
            </a:extLst>
          </p:cNvPr>
          <p:cNvSpPr/>
          <p:nvPr/>
        </p:nvSpPr>
        <p:spPr>
          <a:xfrm>
            <a:off x="3293513" y="6632433"/>
            <a:ext cx="5855249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FAF4F8A6-B38B-E7F4-490F-3367C658CDA1}"/>
              </a:ext>
            </a:extLst>
          </p:cNvPr>
          <p:cNvSpPr/>
          <p:nvPr/>
        </p:nvSpPr>
        <p:spPr>
          <a:xfrm>
            <a:off x="538162" y="3638550"/>
            <a:ext cx="2755351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6F00B193-BB66-17D0-1FB4-33093113ED16}"/>
              </a:ext>
            </a:extLst>
          </p:cNvPr>
          <p:cNvSpPr/>
          <p:nvPr/>
        </p:nvSpPr>
        <p:spPr>
          <a:xfrm>
            <a:off x="3286370" y="3638550"/>
            <a:ext cx="5855249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4">
            <a:extLst>
              <a:ext uri="{FF2B5EF4-FFF2-40B4-BE49-F238E27FC236}">
                <a16:creationId xmlns:a16="http://schemas.microsoft.com/office/drawing/2014/main" id="{FEF03DEA-2833-DF98-B36C-0C7270100281}"/>
              </a:ext>
            </a:extLst>
          </p:cNvPr>
          <p:cNvSpPr/>
          <p:nvPr/>
        </p:nvSpPr>
        <p:spPr>
          <a:xfrm>
            <a:off x="533400" y="5120640"/>
            <a:ext cx="2755351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26">
            <a:extLst>
              <a:ext uri="{FF2B5EF4-FFF2-40B4-BE49-F238E27FC236}">
                <a16:creationId xmlns:a16="http://schemas.microsoft.com/office/drawing/2014/main" id="{74A28B55-59CD-70E6-DE41-50A4CFAAABB5}"/>
              </a:ext>
            </a:extLst>
          </p:cNvPr>
          <p:cNvSpPr/>
          <p:nvPr/>
        </p:nvSpPr>
        <p:spPr>
          <a:xfrm>
            <a:off x="3278372" y="5123491"/>
            <a:ext cx="5855249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29" descr="image.png">
            <a:extLst>
              <a:ext uri="{FF2B5EF4-FFF2-40B4-BE49-F238E27FC236}">
                <a16:creationId xmlns:a16="http://schemas.microsoft.com/office/drawing/2014/main" id="{91CB8520-A8EE-153D-261B-9BE658390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1" y="3798942"/>
            <a:ext cx="187905" cy="181193"/>
          </a:xfrm>
          <a:prstGeom prst="rect">
            <a:avLst/>
          </a:prstGeom>
        </p:spPr>
      </p:pic>
      <p:pic>
        <p:nvPicPr>
          <p:cNvPr id="46" name="Picture 31" descr="image.png">
            <a:extLst>
              <a:ext uri="{FF2B5EF4-FFF2-40B4-BE49-F238E27FC236}">
                <a16:creationId xmlns:a16="http://schemas.microsoft.com/office/drawing/2014/main" id="{B1630C56-5CBA-08F0-EC80-F437A724F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1" y="8344509"/>
            <a:ext cx="161061" cy="181193"/>
          </a:xfrm>
          <a:prstGeom prst="rect">
            <a:avLst/>
          </a:prstGeom>
        </p:spPr>
      </p:pic>
      <p:pic>
        <p:nvPicPr>
          <p:cNvPr id="47" name="Picture 32" descr="image.png">
            <a:extLst>
              <a:ext uri="{FF2B5EF4-FFF2-40B4-BE49-F238E27FC236}">
                <a16:creationId xmlns:a16="http://schemas.microsoft.com/office/drawing/2014/main" id="{90E83D83-3F92-5F5F-9405-91FACE6CD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52" y="6749371"/>
            <a:ext cx="228170" cy="181193"/>
          </a:xfrm>
          <a:prstGeom prst="rect">
            <a:avLst/>
          </a:prstGeom>
        </p:spPr>
      </p:pic>
      <p:pic>
        <p:nvPicPr>
          <p:cNvPr id="48" name="Picture 33" descr="image.png">
            <a:extLst>
              <a:ext uri="{FF2B5EF4-FFF2-40B4-BE49-F238E27FC236}">
                <a16:creationId xmlns:a16="http://schemas.microsoft.com/office/drawing/2014/main" id="{3E52B4A4-45A8-06E9-C5C6-478FE8F19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2311261"/>
            <a:ext cx="187905" cy="181193"/>
          </a:xfrm>
          <a:prstGeom prst="rect">
            <a:avLst/>
          </a:prstGeom>
        </p:spPr>
      </p:pic>
      <p:pic>
        <p:nvPicPr>
          <p:cNvPr id="49" name="Picture 34" descr="image.png">
            <a:extLst>
              <a:ext uri="{FF2B5EF4-FFF2-40B4-BE49-F238E27FC236}">
                <a16:creationId xmlns:a16="http://schemas.microsoft.com/office/drawing/2014/main" id="{ED906590-370B-9A20-9E5D-E2F031A829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" y="5279012"/>
            <a:ext cx="187905" cy="18119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52AC585-42E1-2C34-D230-E04574E21169}"/>
              </a:ext>
            </a:extLst>
          </p:cNvPr>
          <p:cNvSpPr txBox="1"/>
          <p:nvPr/>
        </p:nvSpPr>
        <p:spPr>
          <a:xfrm>
            <a:off x="533400" y="619125"/>
            <a:ext cx="1165860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하드웨어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제원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및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유도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충전</a:t>
            </a:r>
            <a:r>
              <a:rPr sz="2300" b="0" i="0" u="none" dirty="0">
                <a:solidFill>
                  <a:srgbClr val="0F172A"/>
                </a:solidFill>
                <a:latin typeface="Pretendard ExtraBold"/>
              </a:rPr>
              <a:t> </a:t>
            </a:r>
            <a:r>
              <a:rPr sz="2300" b="0" i="0" u="none" dirty="0" err="1">
                <a:solidFill>
                  <a:srgbClr val="0F172A"/>
                </a:solidFill>
                <a:latin typeface="Pretendard ExtraBold"/>
              </a:rPr>
              <a:t>메커니즘</a:t>
            </a:r>
            <a:endParaRPr sz="2300" b="0" i="0" u="none" dirty="0">
              <a:solidFill>
                <a:srgbClr val="0F172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54768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노랑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437</Words>
  <Application>Microsoft Macintosh PowerPoint</Application>
  <PresentationFormat>사용자 지정</PresentationFormat>
  <Paragraphs>45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Malgun Gothic</vt:lpstr>
      <vt:lpstr>Pretendard</vt:lpstr>
      <vt:lpstr>Pretendard ExtraBold</vt:lpstr>
      <vt:lpstr>Pretendard Medium</vt:lpstr>
      <vt:lpstr>Arial</vt:lpstr>
      <vt:lpstr>Verdana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개요 및 핵심 내용</dc:title>
  <dc:creator>inyang</dc:creator>
  <cp:keywords>DAHG5GM7H0E,BAG9r41BJc4</cp:keywords>
  <cp:lastModifiedBy>정우철</cp:lastModifiedBy>
  <cp:revision>6</cp:revision>
  <dcterms:created xsi:type="dcterms:W3CDTF">2026-08-15T19:09:32Z</dcterms:created>
  <dcterms:modified xsi:type="dcterms:W3CDTF">2026-08-16T17:53:13Z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2026-08-15T00:00:00Z</vt:filetime>
  </property>
  <property fmtid="{D5CDD505-2E9C-101B-9397-08002B2CF9AE}" pid="6" name="Producer">
    <vt:lpwstr>3-Heights(TM) PDF Security Shell 4.8.25.2 (http://www.pdf-tools.com)</vt:lpwstr>
  </property>
  <property fmtid="{D5CDD505-2E9C-101B-9397-08002B2CF9AE}" pid="7" name="containsAiGeneratedContent">
    <vt:lpwstr>Yes</vt:lpwstr>
  </property>
</Properties>
</file>